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03366"/>
                </a:solidFill>
              </a:rPr>
              <a:t>🎓 TicketDesk Enterprise v1.0 — Slides Exportables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300">
                <a:solidFill>
                  <a:srgbClr val="333333"/>
                </a:solidFill>
              </a:rPr>
              <a:t>**Formato**: Markdown (convertible a PowerPoint, reveal.js, PDF)</a:t>
            </a:r>
          </a:p>
          <a:p>
            <a:pPr/>
            <a:r>
              <a:rPr sz="1300">
                <a:solidFill>
                  <a:srgbClr val="333333"/>
                </a:solidFill>
              </a:rPr>
              <a:t>**Duración**: 40-50 minutos (5-7 min por slide)</a:t>
            </a:r>
          </a:p>
          <a:p>
            <a:pPr/>
            <a:r>
              <a:rPr sz="1300">
                <a:solidFill>
                  <a:srgbClr val="333333"/>
                </a:solidFill>
              </a:rPr>
              <a:t>**Audiencia**: Estudiantes de ingeniería de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4B4B4"/>
                </a:solidFill>
              </a:rP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03366"/>
                </a:solidFill>
              </a:rPr>
              <a:t>📍 Slide 1: Portada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800" b="1">
                <a:solidFill>
                  <a:srgbClr val="666666"/>
                </a:solidFill>
              </a:rPr>
              <a:t>TicketDesk Enterprise v1.0</a:t>
            </a:r>
          </a:p>
          <a:p>
            <a:pPr/>
            <a:r>
              <a:rPr sz="1800" b="1">
                <a:solidFill>
                  <a:srgbClr val="666666"/>
                </a:solidFill>
              </a:rPr>
              <a:t>Plataforma de Screening Inteligente con IA</a:t>
            </a:r>
          </a:p>
          <a:p/>
          <a:p/>
          <a:p>
            <a:pPr/>
            <a:r>
              <a:rPr sz="1300">
                <a:solidFill>
                  <a:srgbClr val="333333"/>
                </a:solidFill>
              </a:rPr>
              <a:t>┌──────────────────────────────────────────────────┐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                                             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    ESTACIÓN 5 — DELIVERY COMPLETO           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                                             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    5 Fases: Inception → Operations          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    130+ Tests | 11 Terraform Modules        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    6 Microservicios | 99.5% SLA             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                                             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    TicketDesk Enterprise v1.0               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    2026-05-27                               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                                             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└──────────────────────────────────────────────────┘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**Notas para Presentador**: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Introducir el proyecto TicketDesk (screening + evaluación)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Mencionar que recorreremos 5 fases completas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Tiempo esperado: 40-50 minutos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4B4B4"/>
                </a:solidFill>
              </a:rP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03366"/>
                </a:solidFill>
              </a:rPr>
              <a:t>📍 Slide 2: El Problema 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800" b="1">
                <a:solidFill>
                  <a:srgbClr val="666666"/>
                </a:solidFill>
              </a:rPr>
              <a:t>¿Por qué TicketDesk?</a:t>
            </a:r>
          </a:p>
          <a:p/>
          <a:p/>
          <a:p>
            <a:pPr/>
            <a:r>
              <a:rPr sz="1300">
                <a:solidFill>
                  <a:srgbClr val="333333"/>
                </a:solidFill>
              </a:rPr>
              <a:t>REALIDAD ACTUAL:</a:t>
            </a:r>
          </a:p>
          <a:p>
            <a:pPr/>
            <a:r>
              <a:rPr sz="1300">
                <a:solidFill>
                  <a:srgbClr val="333333"/>
                </a:solidFill>
              </a:rPr>
              <a:t>┌─────────────────────────────────────────────┐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1,000+ candidatos/mes                   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20 min de evaluación manual por candidato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= 333 horas/mes = 4 evaluadores full-time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Cuello de botella: pérdida de talento   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└─────────────────────────────────────────────┘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TICKETDESK:</a:t>
            </a:r>
          </a:p>
          <a:p>
            <a:pPr/>
            <a:r>
              <a:rPr sz="1300">
                <a:solidFill>
                  <a:srgbClr val="333333"/>
                </a:solidFill>
              </a:rPr>
              <a:t>┌─────────────────────────────────────────────┐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Candidato → Screening automático (5 min)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IA Claude → Evaluación en &lt;1s            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Evaluador → Review solo candidatos buenos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= 50 horas/mes = 1 persona               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Resultado: 85% más rápido ✓               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└─────────────────────────────────────────────┘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**Notas para Presentador**: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Mostrar números reales: 333 horas vs 50 horas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Enfatizar "pérdida de talento" como motivación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Esto justifica la complejidad de la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4B4B4"/>
                </a:solidFill>
              </a:rP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03366"/>
                </a:solidFill>
              </a:rPr>
              <a:t>📍 Slide 3: INCEPTION — El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800" b="1">
                <a:solidFill>
                  <a:srgbClr val="666666"/>
                </a:solidFill>
              </a:rPr>
              <a:t>Fase 1: Decidir QUÉ Construir</a:t>
            </a:r>
          </a:p>
          <a:p/>
          <a:p/>
          <a:p>
            <a:pPr/>
            <a:r>
              <a:rPr sz="1300">
                <a:solidFill>
                  <a:srgbClr val="333333"/>
                </a:solidFill>
              </a:rPr>
              <a:t>DECISIONES CLAVE:</a:t>
            </a:r>
          </a:p>
          <a:p>
            <a:pPr/>
            <a:r>
              <a:rPr sz="1300">
                <a:solidFill>
                  <a:srgbClr val="333333"/>
                </a:solidFill>
              </a:rPr>
              <a:t>┌──────────────────────────────────────────────┐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✅ Architecture: Domain-Driven Design (DDD)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   └─ 6 bounded contexts independientes  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                                         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✅ Stack: FastAPI + Next.js + Claude API 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   └─ Python backend, TypeScript frontend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                                         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✅ Compliance: LGPD brasileño            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   └─ Hard delete &lt;24h, audit 7 años    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                                         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✅ SLAs: 99.5% uptime, &lt;1s latency P95  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   └─ Monitoreo 24/7                     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└──────────────────────────────────────────────┘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6 BOUNDED CONTEXTS:</a:t>
            </a:r>
          </a:p>
          <a:p>
            <a:pPr/>
            <a:r>
              <a:rPr sz="1300">
                <a:solidFill>
                  <a:srgbClr val="333333"/>
                </a:solidFill>
              </a:rPr>
              <a:t>┌─────────────────────────────────────┐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Unit 1: Account Management      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Unit 2: Session Management (núcleo)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Unit 3: BotEngine (Claude API)  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Unit 4: Evaluation (Scoring)    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Unit 5: Frontend (UI/UX)        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Unit 6: Compliance (LGPD)       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└─────────────────────────────────────┘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ARTIFACTS CLAVE: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PRODUCT.md (visión + features)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DESIGN.md (patrones + decisiones)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**Notas para Presentador**: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DDD permite que 6 teams trabajen en paralelo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LGPD es requisito legal en Brasil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6 contexts = 6 servicios independientes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Tiempo de slide: 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4B4B4"/>
                </a:solidFill>
              </a:rP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03366"/>
                </a:solidFill>
              </a:rPr>
              <a:t>📍 Slide 4: CONSTRUCTION — El Código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800" b="1">
                <a:solidFill>
                  <a:srgbClr val="666666"/>
                </a:solidFill>
              </a:rPr>
              <a:t>Fase 2: Implementar los 6 Contextos</a:t>
            </a:r>
          </a:p>
          <a:p/>
          <a:p/>
          <a:p>
            <a:pPr/>
            <a:r>
              <a:rPr sz="1300">
                <a:solidFill>
                  <a:srgbClr val="333333"/>
                </a:solidFill>
              </a:rPr>
              <a:t>ARQUITECTURA CONSTRUIDA: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Frontend (Next.js)</a:t>
            </a:r>
          </a:p>
          <a:p>
            <a:pPr/>
            <a:r>
              <a:rPr sz="1300">
                <a:solidFill>
                  <a:srgbClr val="333333"/>
                </a:solidFill>
              </a:rPr>
              <a:t>↓</a:t>
            </a:r>
          </a:p>
          <a:p>
            <a:pPr/>
            <a:r>
              <a:rPr sz="1300">
                <a:solidFill>
                  <a:srgbClr val="333333"/>
                </a:solidFill>
              </a:rPr>
              <a:t>┌─────────────────────────────┐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  API Gateway (ALB/Nginx)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└──┬───────────┬──────────┬───┘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          │      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┌──▼──┐    ┌───▼──┐  ┌───▼────┐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│Back │    │Bot   │  │Eval+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│end  │    │Engine│  │Compl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└──┬──┘    └───┬──┘  └───┬────┘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          │     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┌──▼───────────▼─────────▼───┐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 PostgreSQL | Redis | S3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└────────────────────────────┘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SERVICIOS CREADOS: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Backend (FastAPI) — Session mgmt + RBAC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BotEngine (Python) — Claude API + jailbreak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Evaluation — Scoring engine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Compliance — LGPD audit logs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Celery — Async tasks</a:t>
            </a:r>
          </a:p>
          <a:p>
            <a:pPr/>
            <a:r>
              <a:rPr sz="1300">
                <a:solidFill>
                  <a:srgbClr val="333333"/>
                </a:solidFill>
              </a:rPr>
              <a:t>└─ Frontend (Next.js) — Chat + recruiter queue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PATRONES ARQUITECTÓNICOS:</a:t>
            </a:r>
          </a:p>
          <a:p>
            <a:pPr/>
            <a:r>
              <a:rPr sz="1300">
                <a:solidFill>
                  <a:srgbClr val="333333"/>
                </a:solidFill>
              </a:rPr>
              <a:t>✅ Microservicios (independencia)</a:t>
            </a:r>
          </a:p>
          <a:p>
            <a:pPr/>
            <a:r>
              <a:rPr sz="1300">
                <a:solidFill>
                  <a:srgbClr val="333333"/>
                </a:solidFill>
              </a:rPr>
              <a:t>✅ Event-Driven (Redis Pub/Sub)</a:t>
            </a:r>
          </a:p>
          <a:p>
            <a:pPr/>
            <a:r>
              <a:rPr sz="1300">
                <a:solidFill>
                  <a:srgbClr val="333333"/>
                </a:solidFill>
              </a:rPr>
              <a:t>✅ Async-First (Celery workers)</a:t>
            </a:r>
          </a:p>
          <a:p>
            <a:pPr/>
            <a:r>
              <a:rPr sz="1300">
                <a:solidFill>
                  <a:srgbClr val="333333"/>
                </a:solidFill>
              </a:rPr>
              <a:t>✅ API-First (REST + SSE)</a:t>
            </a:r>
          </a:p>
          <a:p>
            <a:pPr/>
            <a:r>
              <a:rPr sz="1300">
                <a:solidFill>
                  <a:srgbClr val="333333"/>
                </a:solidFill>
              </a:rPr>
              <a:t>✅ Zero-Trust Security (JWT RS256 + RBAC)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**Notas para Presentador**: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6 servicios = 6 teams en paralelo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Event-Driven vía Redis (sin acoplamiento)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Celery para operaciones pesadas (hard delete)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Tiempo: 6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4B4B4"/>
                </a:solidFill>
              </a:rP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03366"/>
                </a:solidFill>
              </a:rPr>
              <a:t>📍 Slide 5: TESTING — La Validación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800" b="1">
                <a:solidFill>
                  <a:srgbClr val="666666"/>
                </a:solidFill>
              </a:rPr>
              <a:t>Fase 3: 130+ Tests Cubriendo Todo</a:t>
            </a:r>
          </a:p>
          <a:p/>
          <a:p/>
          <a:p>
            <a:pPr/>
            <a:r>
              <a:rPr sz="1300">
                <a:solidFill>
                  <a:srgbClr val="333333"/>
                </a:solidFill>
              </a:rPr>
              <a:t>PIRÁMIDE TESTING: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▲</a:t>
            </a:r>
          </a:p>
          <a:p>
            <a:pPr/>
            <a:r>
              <a:rPr sz="1300">
                <a:solidFill>
                  <a:srgbClr val="333333"/>
                </a:solidFill>
              </a:rPr>
              <a:t>╱│╲</a:t>
            </a:r>
          </a:p>
          <a:p>
            <a:pPr/>
            <a:r>
              <a:rPr sz="1300">
                <a:solidFill>
                  <a:srgbClr val="333333"/>
                </a:solidFill>
              </a:rPr>
              <a:t>╱ │ ╲   25 E2E Tests</a:t>
            </a:r>
          </a:p>
          <a:p>
            <a:pPr/>
            <a:r>
              <a:rPr sz="1300">
                <a:solidFill>
                  <a:srgbClr val="333333"/>
                </a:solidFill>
              </a:rPr>
              <a:t>╱  │  ╲  (Playwright)</a:t>
            </a:r>
          </a:p>
          <a:p>
            <a:pPr/>
            <a:r>
              <a:rPr sz="1300">
                <a:solidFill>
                  <a:srgbClr val="333333"/>
                </a:solidFill>
              </a:rPr>
              <a:t>╱───┼───╲</a:t>
            </a:r>
          </a:p>
          <a:p>
            <a:pPr/>
            <a:r>
              <a:rPr sz="1300">
                <a:solidFill>
                  <a:srgbClr val="333333"/>
                </a:solidFill>
              </a:rPr>
              <a:t>╱    │    ╲</a:t>
            </a:r>
          </a:p>
          <a:p>
            <a:pPr/>
            <a:r>
              <a:rPr sz="1300">
                <a:solidFill>
                  <a:srgbClr val="333333"/>
                </a:solidFill>
              </a:rPr>
              <a:t>╱     │     ╲  20 Integration</a:t>
            </a:r>
          </a:p>
          <a:p>
            <a:pPr/>
            <a:r>
              <a:rPr sz="1300">
                <a:solidFill>
                  <a:srgbClr val="333333"/>
                </a:solidFill>
              </a:rPr>
              <a:t>╱      │      ╲ (DB + Redis)</a:t>
            </a:r>
          </a:p>
          <a:p>
            <a:pPr/>
            <a:r>
              <a:rPr sz="1300">
                <a:solidFill>
                  <a:srgbClr val="333333"/>
                </a:solidFill>
              </a:rPr>
              <a:t>╱───────┼───────╲</a:t>
            </a:r>
          </a:p>
          <a:p>
            <a:pPr/>
            <a:r>
              <a:rPr sz="1300">
                <a:solidFill>
                  <a:srgbClr val="333333"/>
                </a:solidFill>
              </a:rPr>
              <a:t>╱        │        ╲</a:t>
            </a:r>
          </a:p>
          <a:p>
            <a:pPr/>
            <a:r>
              <a:rPr sz="1300">
                <a:solidFill>
                  <a:srgbClr val="333333"/>
                </a:solidFill>
              </a:rPr>
              <a:t>╱         │         ╱ 80+ Unit Tests</a:t>
            </a:r>
          </a:p>
          <a:p>
            <a:pPr/>
            <a:r>
              <a:rPr sz="1300">
                <a:solidFill>
                  <a:srgbClr val="333333"/>
                </a:solidFill>
              </a:rPr>
              <a:t>╱          │        ╱ (pytest + Jest)</a:t>
            </a:r>
          </a:p>
          <a:p>
            <a:pPr/>
            <a:r>
              <a:rPr sz="1300">
                <a:solidFill>
                  <a:srgbClr val="333333"/>
                </a:solidFill>
              </a:rPr>
              <a:t>╱───────────┴───────╱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COBERTURA COMPLETA:</a:t>
            </a:r>
          </a:p>
          <a:p>
            <a:pPr/>
            <a:r>
              <a:rPr sz="1300">
                <a:solidFill>
                  <a:srgbClr val="333333"/>
                </a:solidFill>
              </a:rPr>
              <a:t>┌──────────────────────────────────────────┐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Unit 2 Backend    48+ tests          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Unit 3 BotEngine  25+ tests          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Unit 4 Evaluation 20+ tests          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Unit 5 Frontend   29 tests           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Unit 6 Compliance 15+ tests          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Security         18+ tests (OWASP Top10)│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Load Testing     3 scenarios (200 users)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────────────────────────────────────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TOTAL: 130+ tests | &gt;80% coverage   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└──────────────────────────────────────────┘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MÉTRICAS DE ÉXITO:</a:t>
            </a:r>
          </a:p>
          <a:p>
            <a:pPr/>
            <a:r>
              <a:rPr sz="1300">
                <a:solidFill>
                  <a:srgbClr val="333333"/>
                </a:solidFill>
              </a:rPr>
              <a:t>✅ &gt;95% AI scoring accuracy</a:t>
            </a:r>
          </a:p>
          <a:p>
            <a:pPr/>
            <a:r>
              <a:rPr sz="1300">
                <a:solidFill>
                  <a:srgbClr val="333333"/>
                </a:solidFill>
              </a:rPr>
              <a:t>✅ &gt;95% jailbreak detection</a:t>
            </a:r>
          </a:p>
          <a:p>
            <a:pPr/>
            <a:r>
              <a:rPr sz="1300">
                <a:solidFill>
                  <a:srgbClr val="333333"/>
                </a:solidFill>
              </a:rPr>
              <a:t>✅ &gt;90% citation extraction</a:t>
            </a:r>
          </a:p>
          <a:p>
            <a:pPr/>
            <a:r>
              <a:rPr sz="1300">
                <a:solidFill>
                  <a:srgbClr val="333333"/>
                </a:solidFill>
              </a:rPr>
              <a:t>✅ &lt;100ms SSE latency</a:t>
            </a:r>
          </a:p>
          <a:p>
            <a:pPr/>
            <a:r>
              <a:rPr sz="1300">
                <a:solidFill>
                  <a:srgbClr val="333333"/>
                </a:solidFill>
              </a:rPr>
              <a:t>✅ &lt;24h hard delete SLA</a:t>
            </a:r>
          </a:p>
          <a:p>
            <a:pPr/>
            <a:r>
              <a:rPr sz="1300">
                <a:solidFill>
                  <a:srgbClr val="333333"/>
                </a:solidFill>
              </a:rPr>
              <a:t>✅ OWASP Top 10 cleared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**Notas para Presentador**: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130+ tests = confianza total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Jailbreak detection: custom regex &lt;100ms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Hard delete: atomic Celery job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Load testing con 200 usuarios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Tiempo: 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4B4B4"/>
                </a:solidFill>
              </a:rP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03366"/>
                </a:solidFill>
              </a:rPr>
              <a:t>📍 Slide 6: DEPLOYMENT — La Entrega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800" b="1">
                <a:solidFill>
                  <a:srgbClr val="666666"/>
                </a:solidFill>
              </a:rPr>
              <a:t>Fase 4: Docker + Terraform + CI/CD</a:t>
            </a:r>
          </a:p>
          <a:p/>
          <a:p/>
          <a:p>
            <a:pPr/>
            <a:r>
              <a:rPr sz="1300">
                <a:solidFill>
                  <a:srgbClr val="333333"/>
                </a:solidFill>
              </a:rPr>
              <a:t>3 AMBIENTES: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LOCAL              STAGING            PRODUCTION</a:t>
            </a:r>
          </a:p>
          <a:p>
            <a:pPr/>
            <a:r>
              <a:rPr sz="1300">
                <a:solidFill>
                  <a:srgbClr val="333333"/>
                </a:solidFill>
              </a:rPr>
              <a:t>(docker-compose)   (AWS)              (AWS)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PostgreSQL      → RDS (single)    → RDS (Multi-AZ)</a:t>
            </a:r>
          </a:p>
          <a:p>
            <a:pPr/>
            <a:r>
              <a:rPr sz="1300">
                <a:solidFill>
                  <a:srgbClr val="333333"/>
                </a:solidFill>
              </a:rPr>
              <a:t>Redis           → ElastiCache    → ElastiCache (3 nodes)</a:t>
            </a:r>
          </a:p>
          <a:p>
            <a:pPr/>
            <a:r>
              <a:rPr sz="1300">
                <a:solidFill>
                  <a:srgbClr val="333333"/>
                </a:solidFill>
              </a:rPr>
              <a:t>LocalStack (S3) → S3 buckets      → S3 + KMS</a:t>
            </a:r>
          </a:p>
          <a:p>
            <a:pPr/>
            <a:r>
              <a:rPr sz="1300">
                <a:solidFill>
                  <a:srgbClr val="333333"/>
                </a:solidFill>
              </a:rPr>
              <a:t>Nginx           → ALB             → ALB + WAF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6-STAGE CI/CD PIPELINE: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Code Push</a:t>
            </a:r>
          </a:p>
          <a:p>
            <a:pPr/>
            <a:r>
              <a:rPr sz="1300">
                <a:solidFill>
                  <a:srgbClr val="333333"/>
                </a:solidFill>
              </a:rPr>
              <a:t>↓</a:t>
            </a:r>
          </a:p>
          <a:p>
            <a:pPr/>
            <a:r>
              <a:rPr sz="1300">
                <a:solidFill>
                  <a:srgbClr val="333333"/>
                </a:solidFill>
              </a:rPr>
              <a:t>[1] LINT → [2] TEST → [3] BUILD → [4] E2E → [5] DEPLOY → [6] RELEASE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        │          │         │         │       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└─ Fail?──┴────────────────────────────────────────────┘</a:t>
            </a:r>
          </a:p>
          <a:p>
            <a:pPr/>
            <a:r>
              <a:rPr sz="1300">
                <a:solidFill>
                  <a:srgbClr val="333333"/>
                </a:solidFill>
              </a:rPr>
              <a:t>(Rollback automático)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INFRASTRUCTURE AS CODE: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Terraform 11 Modules: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VPC (networking)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ECS Cluster (container orchestration)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ECS Services (6 servicios)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RDS (PostgreSQL Multi-AZ, 30-day backup)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ElastiCache (Redis cluster, 3 nodes)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S3 (encryption + versioning)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KMS (rotation enabled)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IAM (least privilege)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ALB (load balancer)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CloudWatch (logs, metrics, alarms)</a:t>
            </a:r>
          </a:p>
          <a:p>
            <a:pPr/>
            <a:r>
              <a:rPr sz="1300">
                <a:solidFill>
                  <a:srgbClr val="333333"/>
                </a:solidFill>
              </a:rPr>
              <a:t>└─ Route53 (DNS)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COST ESTIMADO: $3,150/mes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ECS Fargate $1,200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RDS r6i.xlarge $800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ElastiCache $600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ALB $150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S3 + NAT $300</a:t>
            </a:r>
          </a:p>
          <a:p>
            <a:pPr/>
            <a:r>
              <a:rPr sz="1300">
                <a:solidFill>
                  <a:srgbClr val="333333"/>
                </a:solidFill>
              </a:rPr>
              <a:t>└─ CloudWatch $100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**Notas para Presentador**: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Local: desarrollo rápido sin AWS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Staging: validación pre-prod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Production: Multi-AZ = 0 downtime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CI/CD: automático desde GitHub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Terraform: infraestructura versionada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Tiempo: 7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4B4B4"/>
                </a:solidFill>
              </a:rP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03366"/>
                </a:solidFill>
              </a:rPr>
              <a:t>📍 Slide 7: OPERATIONS — La Producción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800" b="1">
                <a:solidFill>
                  <a:srgbClr val="666666"/>
                </a:solidFill>
              </a:rPr>
              <a:t>Fase 5: 24/7 Production Support</a:t>
            </a:r>
          </a:p>
          <a:p/>
          <a:p/>
          <a:p>
            <a:pPr/>
            <a:r>
              <a:rPr sz="1300">
                <a:solidFill>
                  <a:srgbClr val="333333"/>
                </a:solidFill>
              </a:rPr>
              <a:t>SLAs GARANTIZADOS: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Métrica                Target</a:t>
            </a:r>
          </a:p>
          <a:p>
            <a:pPr/>
            <a:r>
              <a:rPr sz="1300">
                <a:solidFill>
                  <a:srgbClr val="333333"/>
                </a:solidFill>
              </a:rPr>
              <a:t>─────────────────────────────────</a:t>
            </a:r>
          </a:p>
          <a:p>
            <a:pPr/>
            <a:r>
              <a:rPr sz="1300">
                <a:solidFill>
                  <a:srgbClr val="333333"/>
                </a:solidFill>
              </a:rPr>
              <a:t>Uptime                 99.5% (~3.6h/mes)</a:t>
            </a:r>
          </a:p>
          <a:p>
            <a:pPr/>
            <a:r>
              <a:rPr sz="1300">
                <a:solidFill>
                  <a:srgbClr val="333333"/>
                </a:solidFill>
              </a:rPr>
              <a:t>API Latency P95        &lt;1s</a:t>
            </a:r>
          </a:p>
          <a:p>
            <a:pPr/>
            <a:r>
              <a:rPr sz="1300">
                <a:solidFill>
                  <a:srgbClr val="333333"/>
                </a:solidFill>
              </a:rPr>
              <a:t>Bot Response P95       &lt;3s</a:t>
            </a:r>
          </a:p>
          <a:p>
            <a:pPr/>
            <a:r>
              <a:rPr sz="1300">
                <a:solidFill>
                  <a:srgbClr val="333333"/>
                </a:solidFill>
              </a:rPr>
              <a:t>Hard Delete SLA        &lt;24h (LGPD)</a:t>
            </a:r>
          </a:p>
          <a:p>
            <a:pPr/>
            <a:r>
              <a:rPr sz="1300">
                <a:solidFill>
                  <a:srgbClr val="333333"/>
                </a:solidFill>
              </a:rPr>
              <a:t>Error Rate             &lt;0.5%</a:t>
            </a:r>
          </a:p>
          <a:p>
            <a:pPr/>
            <a:r>
              <a:rPr sz="1300">
                <a:solidFill>
                  <a:srgbClr val="333333"/>
                </a:solidFill>
              </a:rPr>
              <a:t>Database CPU           &lt;70%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ON-CALL ROTATION: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Week 1 → Engineer A  ──┐</a:t>
            </a:r>
          </a:p>
          <a:p>
            <a:pPr/>
            <a:r>
              <a:rPr sz="1300">
                <a:solidFill>
                  <a:srgbClr val="333333"/>
                </a:solidFill>
              </a:rPr>
              <a:t>Week 2 → Engineer B  ──┤─ Handoff Mondays 9am PT</a:t>
            </a:r>
          </a:p>
          <a:p>
            <a:pPr/>
            <a:r>
              <a:rPr sz="1300">
                <a:solidFill>
                  <a:srgbClr val="333333"/>
                </a:solidFill>
              </a:rPr>
              <a:t>Week 3 → Engineer C  ──┤─ Backup siempre disponible</a:t>
            </a:r>
          </a:p>
          <a:p>
            <a:pPr/>
            <a:r>
              <a:rPr sz="1300">
                <a:solidFill>
                  <a:srgbClr val="333333"/>
                </a:solidFill>
              </a:rPr>
              <a:t>Week 4 → Engineer D  ──┘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ALERT MATRIX: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P0 CRITICAL (Page immediately)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API downtime (all 502/503)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Database unreachable</a:t>
            </a:r>
          </a:p>
          <a:p>
            <a:pPr/>
            <a:r>
              <a:rPr sz="1300">
                <a:solidFill>
                  <a:srgbClr val="333333"/>
                </a:solidFill>
              </a:rPr>
              <a:t>└─ Hard delete failing (LGPD risk)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P1 HIGH (15 min response)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Error rate &gt;2%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API latency &gt;5s</a:t>
            </a:r>
          </a:p>
          <a:p>
            <a:pPr/>
            <a:r>
              <a:rPr sz="1300">
                <a:solidFill>
                  <a:srgbClr val="333333"/>
                </a:solidFill>
              </a:rPr>
              <a:t>└─ ECS tasks failing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P2 MEDIUM (1hr response)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CPU &gt;80%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Memory &gt;85%</a:t>
            </a:r>
          </a:p>
          <a:p>
            <a:pPr/>
            <a:r>
              <a:rPr sz="1300">
                <a:solidFill>
                  <a:srgbClr val="333333"/>
                </a:solidFill>
              </a:rPr>
              <a:t>└─ Disk &lt;10%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5 CLOUDWATCH DASHBOARDS: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1. System Health</a:t>
            </a:r>
          </a:p>
          <a:p>
            <a:pPr/>
            <a:r>
              <a:rPr sz="1300">
                <a:solidFill>
                  <a:srgbClr val="333333"/>
                </a:solidFill>
              </a:rPr>
              <a:t>└─ Uptime, ECS, RDS, ALB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2. Application Performance</a:t>
            </a:r>
          </a:p>
          <a:p>
            <a:pPr/>
            <a:r>
              <a:rPr sz="1300">
                <a:solidFill>
                  <a:srgbClr val="333333"/>
                </a:solidFill>
              </a:rPr>
              <a:t>└─ Latency P50/P95/P99, error rate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3. Database</a:t>
            </a:r>
          </a:p>
          <a:p>
            <a:pPr/>
            <a:r>
              <a:rPr sz="1300">
                <a:solidFill>
                  <a:srgbClr val="333333"/>
                </a:solidFill>
              </a:rPr>
              <a:t>└─ Connections, slow queries, storage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4. Security &amp; Compliance</a:t>
            </a:r>
          </a:p>
          <a:p>
            <a:pPr/>
            <a:r>
              <a:rPr sz="1300">
                <a:solidFill>
                  <a:srgbClr val="333333"/>
                </a:solidFill>
              </a:rPr>
              <a:t>└─ Login failures, hard delete status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5. Cost</a:t>
            </a:r>
          </a:p>
          <a:p>
            <a:pPr/>
            <a:r>
              <a:rPr sz="1300">
                <a:solidFill>
                  <a:srgbClr val="333333"/>
                </a:solidFill>
              </a:rPr>
              <a:t>└─ Daily spend, service breakdown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**Notas para Presentador**: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On-call: personas reales en rotación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P0 = crítico, page immediately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5 dashboards cubriendo todo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Hard delete &lt;24h es requisito LGPD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Tiempo: 7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4B4B4"/>
                </a:solidFill>
              </a:rP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03366"/>
                </a:solidFill>
              </a:rPr>
              <a:t>📍 Slide 8: Incident Runbooks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800" b="1">
                <a:solidFill>
                  <a:srgbClr val="666666"/>
                </a:solidFill>
              </a:rPr>
              <a:t>Cómo Responder a Emergencias</a:t>
            </a:r>
          </a:p>
          <a:p/>
          <a:p/>
          <a:p>
            <a:pPr/>
            <a:r>
              <a:rPr sz="1300">
                <a:solidFill>
                  <a:srgbClr val="333333"/>
                </a:solidFill>
              </a:rPr>
              <a:t>RUNBOOK EXAMPLE: API Down (All 502/503)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DIAGNOSIS (5 min):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aws ecs describe-services --cluster ticketdesk-prod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aws rds describe-db-instances</a:t>
            </a:r>
          </a:p>
          <a:p>
            <a:pPr/>
            <a:r>
              <a:rPr sz="1300">
                <a:solidFill>
                  <a:srgbClr val="333333"/>
                </a:solidFill>
              </a:rPr>
              <a:t>└─ aws elbv2 describe-target-health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RECOVERY (10 min):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Option 1: Restart ECS service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 └─ aws ecs update-service --force-new-deployment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Option 2: Rollback to previous version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 └─ git log → revert → deploy</a:t>
            </a:r>
          </a:p>
          <a:p>
            <a:pPr/>
            <a:r>
              <a:rPr sz="1300">
                <a:solidFill>
                  <a:srgbClr val="333333"/>
                </a:solidFill>
              </a:rPr>
              <a:t>└─ Option 3: Blue/Green failover</a:t>
            </a:r>
          </a:p>
          <a:p>
            <a:pPr/>
            <a:r>
              <a:rPr sz="1300">
                <a:solidFill>
                  <a:srgbClr val="333333"/>
                </a:solidFill>
              </a:rPr>
              <a:t>└─ Route traffic a versión anterior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VALIDATION (5 min):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curl https://api.ticketdesk.com/health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curl https://api.ticketdesk.com/botengine/health</a:t>
            </a:r>
          </a:p>
          <a:p>
            <a:pPr/>
            <a:r>
              <a:rPr sz="1300">
                <a:solidFill>
                  <a:srgbClr val="333333"/>
                </a:solidFill>
              </a:rPr>
              <a:t>└─ Verify SLAs returned to target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RUNBOOK: High Error Rate (&gt;2%)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1. Identify affected service</a:t>
            </a:r>
          </a:p>
          <a:p>
            <a:pPr/>
            <a:r>
              <a:rPr sz="1300">
                <a:solidFill>
                  <a:srgbClr val="333333"/>
                </a:solidFill>
              </a:rPr>
              <a:t>└─ Grep logs for ERROR messages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2. Check recent deployments</a:t>
            </a:r>
          </a:p>
          <a:p>
            <a:pPr/>
            <a:r>
              <a:rPr sz="1300">
                <a:solidFill>
                  <a:srgbClr val="333333"/>
                </a:solidFill>
              </a:rPr>
              <a:t>└─ git log --oneline -5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3. Options: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Fix + PR + deploy (if quick)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Rollback to previous version</a:t>
            </a:r>
          </a:p>
          <a:p>
            <a:pPr/>
            <a:r>
              <a:rPr sz="1300">
                <a:solidFill>
                  <a:srgbClr val="333333"/>
                </a:solidFill>
              </a:rPr>
              <a:t>└─ Scale down service (reduce traffic)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4. Monitor recovery</a:t>
            </a:r>
          </a:p>
          <a:p>
            <a:pPr/>
            <a:r>
              <a:rPr sz="1300">
                <a:solidFill>
                  <a:srgbClr val="333333"/>
                </a:solidFill>
              </a:rPr>
              <a:t>└─ CloudWatch error rate chart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ESCALATION CONTACTS: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Primary On-call    → Phone + Slack</a:t>
            </a:r>
          </a:p>
          <a:p>
            <a:pPr/>
            <a:r>
              <a:rPr sz="1300">
                <a:solidFill>
                  <a:srgbClr val="333333"/>
                </a:solidFill>
              </a:rPr>
              <a:t>Secondary         → Backup</a:t>
            </a:r>
          </a:p>
          <a:p>
            <a:pPr/>
            <a:r>
              <a:rPr sz="1300">
                <a:solidFill>
                  <a:srgbClr val="333333"/>
                </a:solidFill>
              </a:rPr>
              <a:t>Tech Lead         → Complex issues</a:t>
            </a:r>
          </a:p>
          <a:p>
            <a:pPr/>
            <a:r>
              <a:rPr sz="1300">
                <a:solidFill>
                  <a:srgbClr val="333333"/>
                </a:solidFill>
              </a:rPr>
              <a:t>Engineering Manager → Escalations</a:t>
            </a:r>
          </a:p>
          <a:p>
            <a:pPr/>
            <a:r>
              <a:rPr sz="1300">
                <a:solidFill>
                  <a:srgbClr val="333333"/>
                </a:solidFill>
              </a:rPr>
              <a:t>VP Engineering    → Business impact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**Notas para Presentador**: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Runbooks = procedimientos documentados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Total response time: 20 min (diagnosis + recovery + validation)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Escalation clara: no ambigüedad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Tiempo: 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4B4B4"/>
                </a:solidFill>
              </a:rP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03366"/>
                </a:solidFill>
              </a:rPr>
              <a:t>📍 Slide 9: Cómo Todo Se Conecta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800" b="1">
                <a:solidFill>
                  <a:srgbClr val="666666"/>
                </a:solidFill>
              </a:rPr>
              <a:t>El Ciclo Completo de 5 Fases</a:t>
            </a:r>
          </a:p>
          <a:p/>
          <a:p/>
          <a:p>
            <a:pPr/>
            <a:r>
              <a:rPr sz="1300">
                <a:solidFill>
                  <a:srgbClr val="333333"/>
                </a:solidFill>
              </a:rPr>
              <a:t>FLUJO ITERATIVO: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INCEPTION           CONSTRUCTION        TESTING</a:t>
            </a:r>
          </a:p>
          <a:p>
            <a:pPr/>
            <a:r>
              <a:rPr sz="1300">
                <a:solidFill>
                  <a:srgbClr val="333333"/>
                </a:solidFill>
              </a:rPr>
              <a:t>(Plan)              (Code)              (Validate)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                  │               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Define          ├─ Implement       ├─ 130+ tests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 6 contexts      │  6 services      ├─ &gt;95% accuracy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Decide          ├─ Use ADRs        ├─ OWASP passed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 architecture    │  from plan       └─ SLAs validated</a:t>
            </a:r>
          </a:p>
          <a:p>
            <a:pPr/>
            <a:r>
              <a:rPr sz="1300">
                <a:solidFill>
                  <a:srgbClr val="333333"/>
                </a:solidFill>
              </a:rPr>
              <a:t>└─ Set SLAs        └─ Build APIs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▼</a:t>
            </a:r>
          </a:p>
          <a:p>
            <a:pPr/>
            <a:r>
              <a:rPr sz="1300">
                <a:solidFill>
                  <a:srgbClr val="333333"/>
                </a:solidFill>
              </a:rPr>
              <a:t>DEPLOYMENT</a:t>
            </a:r>
          </a:p>
          <a:p>
            <a:pPr/>
            <a:r>
              <a:rPr sz="1300">
                <a:solidFill>
                  <a:srgbClr val="333333"/>
                </a:solidFill>
              </a:rPr>
              <a:t>(Package)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Docker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Terraform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CI/CD</a:t>
            </a:r>
          </a:p>
          <a:p>
            <a:pPr/>
            <a:r>
              <a:rPr sz="1300">
                <a:solidFill>
                  <a:srgbClr val="333333"/>
                </a:solidFill>
              </a:rPr>
              <a:t>└─ Automation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▼</a:t>
            </a:r>
          </a:p>
          <a:p>
            <a:pPr/>
            <a:r>
              <a:rPr sz="1300">
                <a:solidFill>
                  <a:srgbClr val="333333"/>
                </a:solidFill>
              </a:rPr>
              <a:t>OPERATIONS</a:t>
            </a:r>
          </a:p>
          <a:p>
            <a:pPr/>
            <a:r>
              <a:rPr sz="1300">
                <a:solidFill>
                  <a:srgbClr val="333333"/>
                </a:solidFill>
              </a:rPr>
              <a:t>(Run 24/7)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SLAs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On-call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Monitoring</a:t>
            </a:r>
          </a:p>
          <a:p>
            <a:pPr/>
            <a:r>
              <a:rPr sz="1300">
                <a:solidFill>
                  <a:srgbClr val="333333"/>
                </a:solidFill>
              </a:rPr>
              <a:t>└─ Runbooks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▼</a:t>
            </a:r>
          </a:p>
          <a:p>
            <a:pPr/>
            <a:r>
              <a:rPr sz="1300">
                <a:solidFill>
                  <a:srgbClr val="333333"/>
                </a:solidFill>
              </a:rPr>
              <a:t>FEEDBACK → INCEPTION</a:t>
            </a:r>
          </a:p>
          <a:p>
            <a:pPr/>
            <a:r>
              <a:rPr sz="1300">
                <a:solidFill>
                  <a:srgbClr val="333333"/>
                </a:solidFill>
              </a:rPr>
              <a:t>(Métricas reales)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UN CHANGE FLUYE ASÍ: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Developer Code → Push GitHub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[1] Lint (validar estilo)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[2] Test (130+ tests)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[3] Build (Docker)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[4] E2E (Playwright)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[5] Deploy Staging (AWS)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  ├─ Health checks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  └─ Monitor 24h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└─ [6] Deploy Prod (Blue/Green)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RDS backup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ECS update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Health checks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Smoke tests</a:t>
            </a:r>
          </a:p>
          <a:p>
            <a:pPr/>
            <a:r>
              <a:rPr sz="1300">
                <a:solidFill>
                  <a:srgbClr val="333333"/>
                </a:solidFill>
              </a:rPr>
              <a:t>└─ Slack notification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Si cualquier stage falla → Rollback automático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**Notas para Presentador**: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5 fases son iterativas (no lineales)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Cada fase depende de anterior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Cambio toma ~10 min de staging a prod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Rollback automático si falla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Tiempo: 6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4B4B4"/>
                </a:solidFill>
              </a:rPr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03366"/>
                </a:solidFill>
              </a:rPr>
              <a:t>📍 Slide 10: Lecciones Aprendidas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800" b="1">
                <a:solidFill>
                  <a:srgbClr val="666666"/>
                </a:solidFill>
              </a:rPr>
              <a:t>¿Qué Funcionó? ¿Qué Fue Difícil?</a:t>
            </a:r>
          </a:p>
          <a:p/>
          <a:p/>
          <a:p>
            <a:pPr/>
            <a:r>
              <a:rPr sz="1300">
                <a:solidFill>
                  <a:srgbClr val="333333"/>
                </a:solidFill>
              </a:rPr>
              <a:t>✅ QUÉ FUNCIONÓ: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✓ DDD con 6 bounded contexts</a:t>
            </a:r>
          </a:p>
          <a:p>
            <a:pPr/>
            <a:r>
              <a:rPr sz="1300">
                <a:solidFill>
                  <a:srgbClr val="333333"/>
                </a:solidFill>
              </a:rPr>
              <a:t>└─ Equipos en paralelo, bajo acoplamiento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✓ JWT RS256 asymmetric</a:t>
            </a:r>
          </a:p>
          <a:p>
            <a:pPr/>
            <a:r>
              <a:rPr sz="1300">
                <a:solidFill>
                  <a:srgbClr val="333333"/>
                </a:solidFill>
              </a:rPr>
              <a:t>└─ Verificación multi-servicio segura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✓ Jailbreak detection regex</a:t>
            </a:r>
          </a:p>
          <a:p>
            <a:pPr/>
            <a:r>
              <a:rPr sz="1300">
                <a:solidFill>
                  <a:srgbClr val="333333"/>
                </a:solidFill>
              </a:rPr>
              <a:t>└─ Rápido + accurado sin API call extra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✓ Docker Compose local</a:t>
            </a:r>
          </a:p>
          <a:p>
            <a:pPr/>
            <a:r>
              <a:rPr sz="1300">
                <a:solidFill>
                  <a:srgbClr val="333333"/>
                </a:solidFill>
              </a:rPr>
              <a:t>└─ Todos replican prod en su laptop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✓ Terraform IaC</a:t>
            </a:r>
          </a:p>
          <a:p>
            <a:pPr/>
            <a:r>
              <a:rPr sz="1300">
                <a:solidFill>
                  <a:srgbClr val="333333"/>
                </a:solidFill>
              </a:rPr>
              <a:t>└─ Infraestructura reproducible, versionada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✓ GitHub Actions 6-stage</a:t>
            </a:r>
          </a:p>
          <a:p>
            <a:pPr/>
            <a:r>
              <a:rPr sz="1300">
                <a:solidFill>
                  <a:srgbClr val="333333"/>
                </a:solidFill>
              </a:rPr>
              <a:t>└─ Automatización total lint→deploy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✓ CloudWatch + Runbooks</a:t>
            </a:r>
          </a:p>
          <a:p>
            <a:pPr/>
            <a:r>
              <a:rPr sz="1300">
                <a:solidFill>
                  <a:srgbClr val="333333"/>
                </a:solidFill>
              </a:rPr>
              <a:t>└─ Equipo ops responde P0 en &lt;5 min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✓ 130+ tests &gt;80% coverage</a:t>
            </a:r>
          </a:p>
          <a:p>
            <a:pPr/>
            <a:r>
              <a:rPr sz="1300">
                <a:solidFill>
                  <a:srgbClr val="333333"/>
                </a:solidFill>
              </a:rPr>
              <a:t>└─ Confianza para push sin fear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⚠️ QUÉ FUE DIFÍCIL: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⚠ LGPD compliance</a:t>
            </a:r>
          </a:p>
          <a:p>
            <a:pPr/>
            <a:r>
              <a:rPr sz="1300">
                <a:solidFill>
                  <a:srgbClr val="333333"/>
                </a:solidFill>
              </a:rPr>
              <a:t>└─ Hard delete atómico + 7-year audit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⚠ Token budget enforcement</a:t>
            </a:r>
          </a:p>
          <a:p>
            <a:pPr/>
            <a:r>
              <a:rPr sz="1300">
                <a:solidFill>
                  <a:srgbClr val="333333"/>
                </a:solidFill>
              </a:rPr>
              <a:t>└─ Evitar runaway Claude API costs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⚠ Jailbreak accuracy</a:t>
            </a:r>
          </a:p>
          <a:p>
            <a:pPr/>
            <a:r>
              <a:rPr sz="1300">
                <a:solidFill>
                  <a:srgbClr val="333333"/>
                </a:solidFill>
              </a:rPr>
              <a:t>└─ &gt;95% sin false positives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⚠ Multi-AZ RDS failover</a:t>
            </a:r>
          </a:p>
          <a:p>
            <a:pPr/>
            <a:r>
              <a:rPr sz="1300">
                <a:solidFill>
                  <a:srgbClr val="333333"/>
                </a:solidFill>
              </a:rPr>
              <a:t>└─ Testing de recuperación automática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⚠ Blue/Green 0-downtime</a:t>
            </a:r>
          </a:p>
          <a:p>
            <a:pPr/>
            <a:r>
              <a:rPr sz="1300">
                <a:solidFill>
                  <a:srgbClr val="333333"/>
                </a:solidFill>
              </a:rPr>
              <a:t>└─ Health checks + ALB draining timing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RECOMMENDATIONS V1.1+: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V1.1 (3 meses):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WAF (Web Application Firewall)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Granular rate limiting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Analytics dashboard</a:t>
            </a:r>
          </a:p>
          <a:p>
            <a:pPr/>
            <a:r>
              <a:rPr sz="1300">
                <a:solidFill>
                  <a:srgbClr val="333333"/>
                </a:solidFill>
              </a:rPr>
              <a:t>└─ Email notifications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V2.0 (6 meses):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Multi-language support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Video screening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ATS integrations</a:t>
            </a:r>
          </a:p>
          <a:p>
            <a:pPr/>
            <a:r>
              <a:rPr sz="1300">
                <a:solidFill>
                  <a:srgbClr val="333333"/>
                </a:solidFill>
              </a:rPr>
              <a:t>└─ Feedback forms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V3.0 (12 meses):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ML pipeline (mejorar scoring)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Custom rubrics</a:t>
            </a:r>
          </a:p>
          <a:p>
            <a:pPr/>
            <a:r>
              <a:rPr sz="1300">
                <a:solidFill>
                  <a:srgbClr val="333333"/>
                </a:solidFill>
              </a:rPr>
              <a:t>├─ Workflow automation</a:t>
            </a:r>
          </a:p>
          <a:p>
            <a:pPr/>
            <a:r>
              <a:rPr sz="1300">
                <a:solidFill>
                  <a:srgbClr val="333333"/>
                </a:solidFill>
              </a:rPr>
              <a:t>└─ Industry benchmarking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**Notas para Presentador**: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Honestidad sobre desafíos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LGPD = complejidad legal real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Token budget = gestión de costos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Roadmap muestra visión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Tiempo: 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4B4B4"/>
                </a:solidFill>
              </a:rPr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03366"/>
                </a:solidFill>
              </a:rPr>
              <a:t>📍 Slide 11: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800" b="1">
                <a:solidFill>
                  <a:srgbClr val="666666"/>
                </a:solidFill>
              </a:rPr>
              <a:t>Resumen de Station 5</a:t>
            </a:r>
          </a:p>
          <a:p/>
          <a:p/>
          <a:p>
            <a:pPr/>
            <a:r>
              <a:rPr sz="1300">
                <a:solidFill>
                  <a:srgbClr val="333333"/>
                </a:solidFill>
              </a:rPr>
              <a:t>5 FASES = DELIVERY COMPLETO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┌───────────────────────────────────────────────┐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INCEPTION    → Define QUÉ (arquitectura) 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↓                                         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CONSTRUCTION → Implementa CÓMO (code)    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↓                                         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TESTING      → Valida QUIÉN (130+ tests) 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↓                                         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DEPLOYMENT   → Empaqueta DÓNDE (AWS)     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↓                                         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OPERATIONS   → Mantiene CUÁNDO (24/7)    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└───────────────────────────────────────────────┘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NÚMEROS:</a:t>
            </a:r>
          </a:p>
          <a:p>
            <a:pPr/>
            <a:r>
              <a:rPr sz="1300">
                <a:solidFill>
                  <a:srgbClr val="333333"/>
                </a:solidFill>
              </a:rPr>
              <a:t>✅ 130+ tests</a:t>
            </a:r>
          </a:p>
          <a:p>
            <a:pPr/>
            <a:r>
              <a:rPr sz="1300">
                <a:solidFill>
                  <a:srgbClr val="333333"/>
                </a:solidFill>
              </a:rPr>
              <a:t>✅ 6 microservicios</a:t>
            </a:r>
          </a:p>
          <a:p>
            <a:pPr/>
            <a:r>
              <a:rPr sz="1300">
                <a:solidFill>
                  <a:srgbClr val="333333"/>
                </a:solidFill>
              </a:rPr>
              <a:t>✅ 11 Terraform modules</a:t>
            </a:r>
          </a:p>
          <a:p>
            <a:pPr/>
            <a:r>
              <a:rPr sz="1300">
                <a:solidFill>
                  <a:srgbClr val="333333"/>
                </a:solidFill>
              </a:rPr>
              <a:t>✅ 6-stage CI/CD</a:t>
            </a:r>
          </a:p>
          <a:p>
            <a:pPr/>
            <a:r>
              <a:rPr sz="1300">
                <a:solidFill>
                  <a:srgbClr val="333333"/>
                </a:solidFill>
              </a:rPr>
              <a:t>✅ 5 CloudWatch dashboards</a:t>
            </a:r>
          </a:p>
          <a:p>
            <a:pPr/>
            <a:r>
              <a:rPr sz="1300">
                <a:solidFill>
                  <a:srgbClr val="333333"/>
                </a:solidFill>
              </a:rPr>
              <a:t>✅ 99.5% uptime SLA</a:t>
            </a:r>
          </a:p>
          <a:p>
            <a:pPr/>
            <a:r>
              <a:rPr sz="1300">
                <a:solidFill>
                  <a:srgbClr val="333333"/>
                </a:solidFill>
              </a:rPr>
              <a:t>✅ &lt;24h hard delete SLA</a:t>
            </a:r>
          </a:p>
          <a:p>
            <a:pPr/>
            <a:r>
              <a:rPr sz="1300">
                <a:solidFill>
                  <a:srgbClr val="333333"/>
                </a:solidFill>
              </a:rPr>
              <a:t>✅ $3,150/mes infrastructure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ARTIFACTS:</a:t>
            </a:r>
          </a:p>
          <a:p>
            <a:pPr/>
            <a:r>
              <a:rPr sz="1300">
                <a:solidFill>
                  <a:srgbClr val="333333"/>
                </a:solidFill>
              </a:rPr>
              <a:t>✅ PRODUCT.md + DESIGN.md</a:t>
            </a:r>
          </a:p>
          <a:p>
            <a:pPr/>
            <a:r>
              <a:rPr sz="1300">
                <a:solidFill>
                  <a:srgbClr val="333333"/>
                </a:solidFill>
              </a:rPr>
              <a:t>✅ docker-compose.yml</a:t>
            </a:r>
          </a:p>
          <a:p>
            <a:pPr/>
            <a:r>
              <a:rPr sz="1300">
                <a:solidFill>
                  <a:srgbClr val="333333"/>
                </a:solidFill>
              </a:rPr>
              <a:t>✅ terraform/ (completo)</a:t>
            </a:r>
          </a:p>
          <a:p>
            <a:pPr/>
            <a:r>
              <a:rPr sz="1300">
                <a:solidFill>
                  <a:srgbClr val="333333"/>
                </a:solidFill>
              </a:rPr>
              <a:t>✅ .github/workflows/deploy.yml</a:t>
            </a:r>
          </a:p>
          <a:p>
            <a:pPr/>
            <a:r>
              <a:rPr sz="1300">
                <a:solidFill>
                  <a:srgbClr val="333333"/>
                </a:solidFill>
              </a:rPr>
              <a:t>✅ OPERATIONS-PHASE-PLAN.md</a:t>
            </a:r>
          </a:p>
          <a:p>
            <a:pPr/>
            <a:r>
              <a:rPr sz="1300">
                <a:solidFill>
                  <a:srgbClr val="333333"/>
                </a:solidFill>
              </a:rPr>
              <a:t>✅ 8 test specification files</a:t>
            </a:r>
          </a:p>
          <a:p>
            <a:pPr/>
            <a:r>
              <a:rPr sz="1300">
                <a:solidFill>
                  <a:srgbClr val="333333"/>
                </a:solidFill>
              </a:rPr>
              <a:t>✅ CLAUDE.md (developer guide)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MEJOR PRÁCTICA:</a:t>
            </a:r>
          </a:p>
          <a:p>
            <a:pPr/>
            <a:r>
              <a:rPr sz="1300">
                <a:solidFill>
                  <a:srgbClr val="333333"/>
                </a:solidFill>
              </a:rPr>
              <a:t>"Un prompt vago produce defaults genéricos"</a:t>
            </a:r>
          </a:p>
          <a:p>
            <a:pPr/>
            <a:r>
              <a:rPr sz="1300">
                <a:solidFill>
                  <a:srgbClr val="333333"/>
                </a:solidFill>
              </a:rPr>
              <a:t>→ Siempre dar contexto visual + específico</a:t>
            </a:r>
          </a:p>
          <a:p>
            <a:pPr/>
            <a:r>
              <a:rPr sz="1300">
                <a:solidFill>
                  <a:srgbClr val="333333"/>
                </a:solidFill>
              </a:rPr>
              <a:t>→ Memoria + skills = resultado controlable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**Notas para Presentador**: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Refuerza números clave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Artifacts = prueba de trabajo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Mejor práctica = meta-lesson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Tiempo: 3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4B4B4"/>
                </a:solidFill>
              </a:rP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03366"/>
                </a:solidFill>
              </a:rPr>
              <a:t>📍 Slide 12: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/>
          <a:p>
            <a:pPr/>
            <a:r>
              <a:rPr sz="1300">
                <a:solidFill>
                  <a:srgbClr val="333333"/>
                </a:solidFill>
              </a:rPr>
              <a:t>PREGUNTAS FRECUENTES: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Q: ¿Cuánto tiempo llevó esto?</a:t>
            </a:r>
          </a:p>
          <a:p>
            <a:pPr/>
            <a:r>
              <a:rPr sz="1300">
                <a:solidFill>
                  <a:srgbClr val="333333"/>
                </a:solidFill>
              </a:rPr>
              <a:t>A: 5-7 días de trabajo efectivo (22 horas)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Q: ¿Cuántas personas?</a:t>
            </a:r>
          </a:p>
          <a:p>
            <a:pPr/>
            <a:r>
              <a:rPr sz="1300">
                <a:solidFill>
                  <a:srgbClr val="333333"/>
                </a:solidFill>
              </a:rPr>
              <a:t>A: Diseñado para 1-2 engineers por servicio</a:t>
            </a:r>
          </a:p>
          <a:p>
            <a:pPr/>
            <a:r>
              <a:rPr sz="1300">
                <a:solidFill>
                  <a:srgbClr val="333333"/>
                </a:solidFill>
              </a:rPr>
              <a:t>+ 1 DevOps + 1 QA = ~8 personas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Q: ¿Qué si tenemos &gt;200 usuarios?</a:t>
            </a:r>
          </a:p>
          <a:p>
            <a:pPr/>
            <a:r>
              <a:rPr sz="1300">
                <a:solidFill>
                  <a:srgbClr val="333333"/>
                </a:solidFill>
              </a:rPr>
              <a:t>A: Auto-scaling en ECS Fargate</a:t>
            </a:r>
          </a:p>
          <a:p>
            <a:pPr/>
            <a:r>
              <a:rPr sz="1300">
                <a:solidFill>
                  <a:srgbClr val="333333"/>
                </a:solidFill>
              </a:rPr>
              <a:t>RDS Multi-AZ soporta 1000+ conexiones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Q: ¿LGPD solo para Brasil?</a:t>
            </a:r>
          </a:p>
          <a:p>
            <a:pPr/>
            <a:r>
              <a:rPr sz="1300">
                <a:solidFill>
                  <a:srgbClr val="333333"/>
                </a:solidFill>
              </a:rPr>
              <a:t>A: Sí, pero GDPR es similar (UE)</a:t>
            </a:r>
          </a:p>
          <a:p>
            <a:pPr/>
            <a:r>
              <a:rPr sz="1300">
                <a:solidFill>
                  <a:srgbClr val="333333"/>
                </a:solidFill>
              </a:rPr>
              <a:t>El pattern es reutilizable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Q: ¿Cuánto cuesta en prod?</a:t>
            </a:r>
          </a:p>
          <a:p>
            <a:pPr/>
            <a:r>
              <a:rPr sz="1300">
                <a:solidFill>
                  <a:srgbClr val="333333"/>
                </a:solidFill>
              </a:rPr>
              <a:t>A: ~$3,150/mes (CPU, memory, storage)</a:t>
            </a:r>
          </a:p>
          <a:p>
            <a:pPr/>
            <a:r>
              <a:rPr sz="1300">
                <a:solidFill>
                  <a:srgbClr val="333333"/>
                </a:solidFill>
              </a:rPr>
              <a:t>Escalable: +$500 por 2000 usuarios extra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Q: ¿Cómo replico esto?</a:t>
            </a:r>
          </a:p>
          <a:p>
            <a:pPr/>
            <a:r>
              <a:rPr sz="1300">
                <a:solidFill>
                  <a:srgbClr val="333333"/>
                </a:solidFill>
              </a:rPr>
              <a:t>A: README.md + docker-compose up -d</a:t>
            </a:r>
          </a:p>
          <a:p>
            <a:pPr/>
            <a:r>
              <a:rPr sz="1300">
                <a:solidFill>
                  <a:srgbClr val="333333"/>
                </a:solidFill>
              </a:rPr>
              <a:t>Luego terraform apply (producción)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Q: ¿Qué skills necesito?</a:t>
            </a:r>
          </a:p>
          <a:p>
            <a:pPr/>
            <a:r>
              <a:rPr sz="1300">
                <a:solidFill>
                  <a:srgbClr val="333333"/>
                </a:solidFill>
              </a:rPr>
              <a:t>A: Python, TypeScript, PostgreSQL, AWS</a:t>
            </a:r>
          </a:p>
          <a:p>
            <a:pPr/>
            <a:r>
              <a:rPr sz="1300">
                <a:solidFill>
                  <a:srgbClr val="333333"/>
                </a:solidFill>
              </a:rPr>
              <a:t>Docker, Terraform, Git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┌─────────────────────────────────┐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                            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 ¿Preguntas?                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                            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 Contacto: [your-email]     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 GitHub: [project-repo]     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 Docs: ESTACION-5-PRESENTACION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│                                 │</a:t>
            </a:r>
          </a:p>
          <a:p>
            <a:pPr/>
            <a:r>
              <a:rPr sz="1300">
                <a:solidFill>
                  <a:srgbClr val="333333"/>
                </a:solidFill>
              </a:rPr>
              <a:t>└─────────────────────────────────┘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**Notas para Presentador**: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Prepara respuestas a preguntas comunes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Tiempo: 5 min de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4B4B4"/>
                </a:solidFill>
              </a:rPr>
              <a:t>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03366"/>
                </a:solidFill>
              </a:rPr>
              <a:t>📋 Cómo Usar Estos Slides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800" b="1">
                <a:solidFill>
                  <a:srgbClr val="666666"/>
                </a:solidFill>
              </a:rPr>
              <a:t>Opción 1: Convertir a PowerPoint</a:t>
            </a:r>
          </a:p>
          <a:p/>
          <a:p/>
          <a:p>
            <a:pPr/>
            <a:r>
              <a:rPr sz="1300">
                <a:solidFill>
                  <a:srgbClr val="333333"/>
                </a:solidFill>
              </a:rPr>
              <a:t># Si tienes pandoc instalado:</a:t>
            </a:r>
          </a:p>
          <a:p>
            <a:pPr/>
            <a:r>
              <a:rPr sz="1300">
                <a:solidFill>
                  <a:srgbClr val="333333"/>
                </a:solidFill>
              </a:rPr>
              <a:t>pandoc ESTACION-5-SLIDES.md -o presentacion.pptx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# Luego editas en PowerPoint para agregar logos/colores</a:t>
            </a:r>
          </a:p>
          <a:p/>
          <a:p>
            <a:pPr/>
            <a:r>
              <a:rPr sz="1800" b="1">
                <a:solidFill>
                  <a:srgbClr val="666666"/>
                </a:solidFill>
              </a:rPr>
              <a:t>Opción 2: Convertir a Reveal.js (HTML)</a:t>
            </a:r>
          </a:p>
          <a:p/>
          <a:p/>
          <a:p>
            <a:pPr/>
            <a:r>
              <a:rPr sz="1300">
                <a:solidFill>
                  <a:srgbClr val="333333"/>
                </a:solidFill>
              </a:rPr>
              <a:t># Reveal.js es excelente para presentaciones técnicas</a:t>
            </a:r>
          </a:p>
          <a:p>
            <a:pPr/>
            <a:r>
              <a:rPr sz="1300">
                <a:solidFill>
                  <a:srgbClr val="333333"/>
                </a:solidFill>
              </a:rPr>
              <a:t>pandoc ESTACION-5-SLIDES.md -o presentacion.html \</a:t>
            </a:r>
          </a:p>
          <a:p>
            <a:pPr/>
            <a:r>
              <a:rPr sz="1300">
                <a:solidFill>
                  <a:srgbClr val="333333"/>
                </a:solidFill>
              </a:rPr>
              <a:t>-t revealjs \</a:t>
            </a:r>
          </a:p>
          <a:p>
            <a:pPr/>
            <a:r>
              <a:rPr sz="1300">
                <a:solidFill>
                  <a:srgbClr val="333333"/>
                </a:solidFill>
              </a:rPr>
              <a:t>-V revealjs-url=https://unpkg.com/reveal.js</a:t>
            </a:r>
          </a:p>
          <a:p/>
          <a:p>
            <a:pPr/>
            <a:r>
              <a:rPr sz="1800" b="1">
                <a:solidFill>
                  <a:srgbClr val="666666"/>
                </a:solidFill>
              </a:rPr>
              <a:t>Opción 3: Usar directamente desde Markdown</a:t>
            </a:r>
          </a:p>
          <a:p/>
          <a:p/>
          <a:p>
            <a:pPr/>
            <a:r>
              <a:rPr sz="1300">
                <a:solidFill>
                  <a:srgbClr val="333333"/>
                </a:solidFill>
              </a:rPr>
              <a:t># En VS Code con extensión "Markdown Preview Mermaid Support"</a:t>
            </a:r>
          </a:p>
          <a:p>
            <a:pPr/>
            <a:r>
              <a:rPr sz="1300">
                <a:solidFill>
                  <a:srgbClr val="333333"/>
                </a:solidFill>
              </a:rPr>
              <a:t># Abre este archivo y preview</a:t>
            </a:r>
          </a:p>
          <a:p>
            <a:pPr/>
            <a:r>
              <a:rPr sz="1300">
                <a:solidFill>
                  <a:srgbClr val="333333"/>
                </a:solidFill>
              </a:rPr>
              <a:t># Perfecto para presentaciones rápidas</a:t>
            </a:r>
          </a:p>
          <a:p/>
          <a:p>
            <a:pPr/>
            <a:r>
              <a:rPr sz="1800" b="1">
                <a:solidFill>
                  <a:srgbClr val="666666"/>
                </a:solidFill>
              </a:rPr>
              <a:t>Timing Sugerido</a:t>
            </a:r>
          </a:p>
          <a:p/>
          <a:p/>
          <a:p>
            <a:pPr/>
            <a:r>
              <a:rPr sz="1300">
                <a:solidFill>
                  <a:srgbClr val="333333"/>
                </a:solidFill>
              </a:rPr>
              <a:t>Total: 40-50 minutos</a:t>
            </a:r>
          </a:p>
          <a:p/>
          <a:p>
            <a:pPr/>
            <a:r>
              <a:rPr sz="1300">
                <a:solidFill>
                  <a:srgbClr val="333333"/>
                </a:solidFill>
              </a:rPr>
              <a:t>Slide 1:  Portada (1 min)</a:t>
            </a:r>
          </a:p>
          <a:p>
            <a:pPr/>
            <a:r>
              <a:rPr sz="1300">
                <a:solidFill>
                  <a:srgbClr val="333333"/>
                </a:solidFill>
              </a:rPr>
              <a:t>Slide 2:  Problema (3 min)</a:t>
            </a:r>
          </a:p>
          <a:p>
            <a:pPr/>
            <a:r>
              <a:rPr sz="1300">
                <a:solidFill>
                  <a:srgbClr val="333333"/>
                </a:solidFill>
              </a:rPr>
              <a:t>Slide 3:  Inception (5 min)</a:t>
            </a:r>
          </a:p>
          <a:p>
            <a:pPr/>
            <a:r>
              <a:rPr sz="1300">
                <a:solidFill>
                  <a:srgbClr val="333333"/>
                </a:solidFill>
              </a:rPr>
              <a:t>Slide 4:  Construction (6 min)</a:t>
            </a:r>
          </a:p>
          <a:p>
            <a:pPr/>
            <a:r>
              <a:rPr sz="1300">
                <a:solidFill>
                  <a:srgbClr val="333333"/>
                </a:solidFill>
              </a:rPr>
              <a:t>Slide 5:  Testing (5 min)</a:t>
            </a:r>
          </a:p>
          <a:p>
            <a:pPr/>
            <a:r>
              <a:rPr sz="1300">
                <a:solidFill>
                  <a:srgbClr val="333333"/>
                </a:solidFill>
              </a:rPr>
              <a:t>Slide 6:  Deployment (7 min)</a:t>
            </a:r>
          </a:p>
          <a:p>
            <a:pPr/>
            <a:r>
              <a:rPr sz="1300">
                <a:solidFill>
                  <a:srgbClr val="333333"/>
                </a:solidFill>
              </a:rPr>
              <a:t>Slide 7:  Operations (7 min)</a:t>
            </a:r>
          </a:p>
          <a:p>
            <a:pPr/>
            <a:r>
              <a:rPr sz="1300">
                <a:solidFill>
                  <a:srgbClr val="333333"/>
                </a:solidFill>
              </a:rPr>
              <a:t>Slide 8:  Runbooks (5 min)</a:t>
            </a:r>
          </a:p>
          <a:p>
            <a:pPr/>
            <a:r>
              <a:rPr sz="1300">
                <a:solidFill>
                  <a:srgbClr val="333333"/>
                </a:solidFill>
              </a:rPr>
              <a:t>Slide 9:  Conexión (6 min)</a:t>
            </a:r>
          </a:p>
          <a:p>
            <a:pPr/>
            <a:r>
              <a:rPr sz="1300">
                <a:solidFill>
                  <a:srgbClr val="333333"/>
                </a:solidFill>
              </a:rPr>
              <a:t>Slide 10: Lecciones (5 min)</a:t>
            </a:r>
          </a:p>
          <a:p>
            <a:pPr/>
            <a:r>
              <a:rPr sz="1300">
                <a:solidFill>
                  <a:srgbClr val="333333"/>
                </a:solidFill>
              </a:rPr>
              <a:t>Slide 11: Key Takeaways (3 min)</a:t>
            </a:r>
          </a:p>
          <a:p>
            <a:pPr/>
            <a:r>
              <a:rPr sz="1300">
                <a:solidFill>
                  <a:srgbClr val="333333"/>
                </a:solidFill>
              </a:rPr>
              <a:t>Slide 12: Q&amp;A (5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4B4B4"/>
                </a:solidFill>
              </a:rPr>
              <a:t>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333333"/>
                </a:solidFill>
              </a:rPr>
              <a:t>**Generado**: 2026-05-27</a:t>
            </a:r>
          </a:p>
          <a:p>
            <a:pPr/>
            <a:r>
              <a:rPr sz="1300">
                <a:solidFill>
                  <a:srgbClr val="333333"/>
                </a:solidFill>
              </a:rPr>
              <a:t>**Formato**: Markdown slides (exportable a PowerPoint/Reveal.js/PDF)</a:t>
            </a:r>
          </a:p>
          <a:p>
            <a:pPr/>
            <a:r>
              <a:rPr sz="1300">
                <a:solidFill>
                  <a:srgbClr val="333333"/>
                </a:solidFill>
              </a:rPr>
              <a:t>**Duración**: 40-50 minutos</a:t>
            </a:r>
          </a:p>
          <a:p>
            <a:pPr/>
            <a:r>
              <a:rPr sz="1300">
                <a:solidFill>
                  <a:srgbClr val="333333"/>
                </a:solidFill>
              </a:rPr>
              <a:t>**Audiencia**: Estudiantes de ingeniería de software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4B4B4"/>
                </a:solidFill>
              </a:rPr>
              <a:t>Slide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